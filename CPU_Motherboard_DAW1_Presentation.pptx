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731520"/>
            <a:ext cx="1828800" cy="182880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2743200"/>
            <a:ext cx="822960" cy="822960"/>
          </a:xfrm>
          <a:prstGeom prst="ellipse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949440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8FAFD"/>
                </a:solidFill>
                <a:latin typeface="Aptos"/>
              </a:defRPr>
            </a:pPr>
            <a:r>
              <a:t>CPU &amp;</a:t>
            </a:r>
          </a:p>
          <a:p>
            <a:pPr>
              <a:spcAft>
                <a:spcPts val="1000"/>
              </a:spcAft>
              <a:defRPr sz="3800" b="0">
                <a:solidFill>
                  <a:srgbClr val="F8FAFD"/>
                </a:solidFill>
                <a:latin typeface="Aptos"/>
              </a:defRPr>
            </a:pPr>
            <a:r>
              <a:t>MOTHERBOARD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68580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DBED2"/>
                </a:solidFill>
                <a:latin typeface="Aptos"/>
              </a:defRPr>
            </a:pPr>
            <a:r>
              <a:t>Computer hardware · 1st year of DAW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67665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Processor, cooling, motherboard and chipset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80760"/>
            <a:ext cx="7772400" cy="25545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0C0D2"/>
                </a:solidFill>
                <a:latin typeface="Aptos"/>
              </a:defRPr>
            </a:pPr>
            <a:r>
              <a:rPr dirty="0"/>
              <a:t>Lucas Rodríguez Escribano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What are they?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Two key parts that work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347472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347472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20824"/>
            <a:ext cx="478231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CPU — the 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782312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Executes program instructions.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Performs calculations and processes data.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Affects performance in programming, multitasking and games.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66360" cy="347472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73152" cy="347472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2020824"/>
            <a:ext cx="478231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Motherboard — the main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96312"/>
            <a:ext cx="4782312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Connects the CPU, RAM, storage and expansion cards.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Provides ports and communication pathways.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Must be compatible with the other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CPU: main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What affects how a processor works?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16002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73152" cy="160020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Cores and threads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3136392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Cores process work. Threads help manage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6002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73152" cy="160020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293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Clock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36392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Measured in GHz; it is not the only measure of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520440" cy="16002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83080"/>
            <a:ext cx="73152" cy="160020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293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04872"/>
            <a:ext cx="3136392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Fast memory close to the CPU (L1, L2 and L3).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03320"/>
            <a:ext cx="3520440" cy="16002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14600" y="3703320"/>
            <a:ext cx="73152" cy="160020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15768" y="384962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TDP /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325112"/>
            <a:ext cx="3136392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A thermal-design figure used when planning cooling.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3520440" cy="16002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73152" cy="160020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84962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Integrated graphics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25112"/>
            <a:ext cx="3136392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Some CPUs can display graphics without a separate GPU.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CPU cooling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Why does the processor need to stay cool?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324612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24612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46908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Air cooling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4690872" cy="2514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Heatsink + fan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Usually simpler and cheaper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Transfers heat away from the processor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324612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324612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6908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Liquid 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50592"/>
            <a:ext cx="4690872" cy="2514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Pump + liquid + radiator + fans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Can suit some high-power systems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• Usually costs more and has more parts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Motherboard: main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The connections that let components work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55448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CPU 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Holds the processor. Must match the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5544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RAM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Hold memory modules of a supported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155448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3794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PCIe 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1343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For graphics cards and expansion cards.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11880"/>
            <a:ext cx="73152" cy="155448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7581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M.2 / SATA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Connect SSDs and hard drives.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1188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611880"/>
            <a:ext cx="73152" cy="155448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7581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VRM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3367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Helps provide the correct voltage to the CPU.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611880"/>
            <a:ext cx="3520440" cy="155448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611880"/>
            <a:ext cx="73152" cy="15544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758184"/>
            <a:ext cx="313639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BIOS / UEFI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233672"/>
            <a:ext cx="3136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Starts the PC and provides hardware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Form factors and chipset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Size and features vary between 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Full-size board.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Usually offers more slots and connections.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320040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Micro-ATX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Smaller than ATX.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Often a good balance of size and expansion.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Mini-ITX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Compact format.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Usually has fewer expansion slots.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1000"/>
              </a:spcAft>
              <a:defRPr sz="1600" b="0">
                <a:solidFill>
                  <a:srgbClr val="E2EBF5"/>
                </a:solidFill>
                <a:latin typeface="Aptos"/>
              </a:defRPr>
            </a:pPr>
            <a:r>
              <a:t>The chipset helps determine platform features, ports, expansion options and supported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Compatibility: CPU + motherboard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rPr dirty="0"/>
              <a:t>The socket and platform must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1089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310896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8280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AMD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828032" cy="23774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Ryzen 5 9600X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Socket AM5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Example board: MSI MAG B650 TOMAHAWK WIFI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Uses DDR5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31089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310896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75104"/>
            <a:ext cx="48280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Intel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4828032" cy="23774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Core Ultra 5 245K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Socket LGA 1851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Example board: MSI MAG Z890 TOMAHAWK WIFI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Uses DDR5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1706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rPr dirty="0"/>
              <a:t>Real example : AMD Ryzen 5 9600X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A desktop processor for everyday work, programming and gaming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0080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56616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601675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Key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6016752" cy="28346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2EBF5"/>
                </a:solidFill>
                <a:latin typeface="Aptos"/>
              </a:defRPr>
            </a:pPr>
            <a:r>
              <a:t>6 cores / 12 threads</a:t>
            </a:r>
          </a:p>
          <a:p>
            <a:pPr>
              <a:spcAft>
                <a:spcPts val="1000"/>
              </a:spcAft>
              <a:defRPr sz="2000" b="0">
                <a:solidFill>
                  <a:srgbClr val="E2EBF5"/>
                </a:solidFill>
                <a:latin typeface="Aptos"/>
              </a:defRPr>
            </a:pPr>
            <a:r>
              <a:t>3.9 GHz base, up to 5.4 GHz boost</a:t>
            </a:r>
          </a:p>
          <a:p>
            <a:pPr>
              <a:spcAft>
                <a:spcPts val="1000"/>
              </a:spcAft>
              <a:defRPr sz="2000" b="0">
                <a:solidFill>
                  <a:srgbClr val="E2EBF5"/>
                </a:solidFill>
                <a:latin typeface="Aptos"/>
              </a:defRPr>
            </a:pPr>
            <a:r>
              <a:t>65 W default TDP</a:t>
            </a:r>
          </a:p>
          <a:p>
            <a:pPr>
              <a:spcAft>
                <a:spcPts val="1000"/>
              </a:spcAft>
              <a:defRPr sz="2000" b="0">
                <a:solidFill>
                  <a:srgbClr val="E2EBF5"/>
                </a:solidFill>
                <a:latin typeface="Aptos"/>
              </a:defRPr>
            </a:pPr>
            <a:r>
              <a:t>AM5 socket · Zen 5 · integrated graphics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84048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828800"/>
            <a:ext cx="73152" cy="356616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1975104"/>
            <a:ext cx="34564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Price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450592"/>
            <a:ext cx="3456432" cy="28346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Around €180–€205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Approximate price checked 29 October 2026.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Prices depend on shop and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Official specs: amd.com — Ryzen 5 9600X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Real example 2: Intel Core Ultra 5 245K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A processor with performance and efficient 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0080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56616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601675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Key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6016752" cy="28346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14 cores (6 performance + 8 efficient) / 14 threads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Up to 5.2 GHz turbo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125 W base power; 159 W maximum turbo power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LGA 1851 socket · integrated Intel Graphics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84048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828800"/>
            <a:ext cx="73152" cy="356616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1975104"/>
            <a:ext cx="34564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Price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450592"/>
            <a:ext cx="3456432" cy="114287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Around €250–€320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Approximate price </a:t>
            </a:r>
            <a:endParaRPr lang="es-ES" dirty="0"/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Prices depend on shop and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Official specs: intel.com — Core Ultra 5 245K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Real example 3: MSI MAG B650 TOMAHAWK WIFI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An ATX motherboard for AMD AM5 processors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0080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56616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601675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Key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6016752" cy="28346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AMD B650 chipset · AM5 socket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4 DDR5 slots, up to 256 GB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3 M.2 slots and 6 SATA ports</a:t>
            </a:r>
          </a:p>
          <a:p>
            <a:pPr>
              <a:spcAft>
                <a:spcPts val="1000"/>
              </a:spcAft>
              <a:defRPr sz="1900" b="0">
                <a:solidFill>
                  <a:srgbClr val="E2EBF5"/>
                </a:solidFill>
                <a:latin typeface="Aptos"/>
              </a:defRPr>
            </a:pPr>
            <a:r>
              <a:t>2.5 Gb Ethernet, Wi-Fi 6E and Bluetooth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84048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828800"/>
            <a:ext cx="73152" cy="356616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1975104"/>
            <a:ext cx="34564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Price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450592"/>
            <a:ext cx="3456432" cy="14198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Around €190–€240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Approximate price </a:t>
            </a:r>
            <a:endParaRPr lang="es-ES" dirty="0"/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Check BIOS support for the chosen CPU.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0C0D2"/>
                </a:solidFill>
                <a:latin typeface="Aptos"/>
              </a:defRPr>
            </a:pPr>
            <a:r>
              <a:t>Official specs: es.msi.com — MAG B650 TOMAHAWK WIFI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Real example 4: MSI MAG Z890 TOMAHAWK WIFI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An ATX motherboard for Intel Core Ultra Series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0080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56616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601675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Key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6016752" cy="28346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Intel Z890 chipset · LGA 1851 socket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4 DDR5 slots, up to 256 GB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4 M.2 slots and 4 SATA ports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5 Gb Ethernet, Wi-Fi 7 and Bluetooth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PCIe 5.0 and Thunderbolt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840480" cy="356616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828800"/>
            <a:ext cx="73152" cy="356616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1975104"/>
            <a:ext cx="345643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Price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450592"/>
            <a:ext cx="3456432" cy="101463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Around €317 on the MSI store when checked.</a:t>
            </a:r>
          </a:p>
          <a:p>
            <a:pPr>
              <a:spcAft>
                <a:spcPts val="10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rPr dirty="0"/>
              <a:t>Availability may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0C0D2"/>
                </a:solidFill>
                <a:latin typeface="Aptos"/>
              </a:defRPr>
            </a:pPr>
            <a:r>
              <a:t>Official product page: es-store.msi.com — MAG Z890 TOMAHAWK WIFI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How the motherboard connects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It also connects RAM, storage and peripherals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2EBF5"/>
                </a:solidFill>
                <a:latin typeface="Aptos"/>
              </a:defRPr>
            </a:pPr>
            <a:r>
              <a:t>Stores data and instructions temporarily while programs are running.</a:t>
            </a:r>
          </a:p>
          <a:p>
            <a:pPr>
              <a:spcAft>
                <a:spcPts val="1000"/>
              </a:spcAft>
              <a:defRPr sz="1700" b="0">
                <a:solidFill>
                  <a:srgbClr val="E2EBF5"/>
                </a:solidFill>
                <a:latin typeface="Aptos"/>
              </a:defRPr>
            </a:pPr>
            <a:r>
              <a:t>The board determines supported DDR generation and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320040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2EBF5"/>
                </a:solidFill>
                <a:latin typeface="Aptos"/>
              </a:defRPr>
            </a:pPr>
            <a:r>
              <a:t>M.2 can support NVMe SSDs; SATA connects compatible SSDs and hard drives.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1D2F4B"/>
          </a:solidFill>
          <a:ln>
            <a:solidFill>
              <a:srgbClr val="37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75104"/>
            <a:ext cx="30906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Peripherals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90672" cy="2468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2EBF5"/>
                </a:solidFill>
                <a:latin typeface="Aptos"/>
              </a:defRPr>
            </a:pPr>
            <a:r>
              <a:t>USB, audio, Ethernet and sometimes video ports connect external devices.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What should we remember?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297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2EBF5"/>
                </a:solidFill>
                <a:latin typeface="Aptos"/>
              </a:defRPr>
            </a:pPr>
            <a:r>
              <a:t>•  The CPU executes instructions and processes data.</a:t>
            </a:r>
          </a:p>
          <a:p>
            <a:pPr>
              <a:spcAft>
                <a:spcPts val="1600"/>
              </a:spcAft>
              <a:defRPr sz="2100">
                <a:solidFill>
                  <a:srgbClr val="E2EBF5"/>
                </a:solidFill>
                <a:latin typeface="Aptos"/>
              </a:defRPr>
            </a:pPr>
            <a:r>
              <a:t>•  Cooling helps prevent overheating and performance loss.</a:t>
            </a:r>
          </a:p>
          <a:p>
            <a:pPr>
              <a:spcAft>
                <a:spcPts val="1600"/>
              </a:spcAft>
              <a:defRPr sz="2100">
                <a:solidFill>
                  <a:srgbClr val="E2EBF5"/>
                </a:solidFill>
                <a:latin typeface="Aptos"/>
              </a:defRPr>
            </a:pPr>
            <a:r>
              <a:t>•  The motherboard connects the main components of the computer.</a:t>
            </a:r>
          </a:p>
          <a:p>
            <a:pPr>
              <a:spcAft>
                <a:spcPts val="1600"/>
              </a:spcAft>
              <a:defRPr sz="2100">
                <a:solidFill>
                  <a:srgbClr val="E2EBF5"/>
                </a:solidFill>
                <a:latin typeface="Aptos"/>
              </a:defRPr>
            </a:pPr>
            <a:r>
              <a:t>•  Socket, chipset, RAM type and BIOS support must be checked before buying.</a:t>
            </a:r>
          </a:p>
          <a:p>
            <a:pPr>
              <a:spcAft>
                <a:spcPts val="1600"/>
              </a:spcAft>
              <a:defRPr sz="2100">
                <a:solidFill>
                  <a:srgbClr val="E2EBF5"/>
                </a:solidFill>
                <a:latin typeface="Aptos"/>
              </a:defRPr>
            </a:pPr>
            <a:r>
              <a:t>•  A compatible CPU and motherboard are essential for a working PC.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64008"/>
          </a:xfrm>
          <a:prstGeom prst="rect">
            <a:avLst/>
          </a:prstGeom>
          <a:solidFill>
            <a:srgbClr val="3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0C0D2"/>
                </a:solidFill>
                <a:latin typeface="Aptos"/>
              </a:defRPr>
            </a:pPr>
            <a:r>
              <a:t>Official manufacturer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185281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E2EBF5"/>
                </a:solidFill>
                <a:latin typeface="Aptos"/>
              </a:defRPr>
            </a:pPr>
            <a:r>
              <a:rPr dirty="0"/>
              <a:t>•  AMD Ryzen 5 9600X: https://www.amd.com/es/products/processors/desktops/ryzen/9000-series/amd-ryzen-5-9600x.html</a:t>
            </a:r>
          </a:p>
          <a:p>
            <a:pPr>
              <a:spcAft>
                <a:spcPts val="1600"/>
              </a:spcAft>
              <a:defRPr sz="1500">
                <a:solidFill>
                  <a:srgbClr val="E2EBF5"/>
                </a:solidFill>
                <a:latin typeface="Aptos"/>
              </a:defRPr>
            </a:pPr>
            <a:r>
              <a:rPr dirty="0"/>
              <a:t>•  Intel Core Ultra 5 245K: https://www.intel.com/content/www/us/en/products/sku/241067/intel-core-ultra-5-processor-245k-24m-cache-up-to-5-20-ghz/specifications.html</a:t>
            </a:r>
          </a:p>
          <a:p>
            <a:pPr>
              <a:spcAft>
                <a:spcPts val="1600"/>
              </a:spcAft>
              <a:defRPr sz="1500">
                <a:solidFill>
                  <a:srgbClr val="E2EBF5"/>
                </a:solidFill>
                <a:latin typeface="Aptos"/>
              </a:defRPr>
            </a:pPr>
            <a:r>
              <a:rPr dirty="0"/>
              <a:t>•  MSI MAG B650 TOMAHAWK WIFI: https://es.msi.com/Motherboard/MAG-B650-TOMAHAWK-WIFI/Specification</a:t>
            </a:r>
          </a:p>
          <a:p>
            <a:pPr>
              <a:spcAft>
                <a:spcPts val="1600"/>
              </a:spcAft>
              <a:defRPr sz="1500">
                <a:solidFill>
                  <a:srgbClr val="E2EBF5"/>
                </a:solidFill>
                <a:latin typeface="Aptos"/>
              </a:defRPr>
            </a:pPr>
            <a:r>
              <a:rPr dirty="0"/>
              <a:t>•  MSI MAG Z890 TOMAHAWK WIFI: https://es-store.msi.com/products/mag-z890-tomahawk-wifi-placas-base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3DBED2"/>
                </a:solidFill>
                <a:latin typeface="Aptos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955</Words>
  <Application>Microsoft Office PowerPoint</Application>
  <PresentationFormat>Panorámica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Lucas Rodríguez Escribano</dc:creator>
  <cp:keywords/>
  <dc:description>generated using python-pptx</dc:description>
  <cp:lastModifiedBy>Lucas</cp:lastModifiedBy>
  <cp:revision>3</cp:revision>
  <dcterms:created xsi:type="dcterms:W3CDTF">2013-01-27T09:14:16Z</dcterms:created>
  <dcterms:modified xsi:type="dcterms:W3CDTF">2026-10-29T22:08:38Z</dcterms:modified>
  <cp:category/>
</cp:coreProperties>
</file>